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e09f54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e09f54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8e09f547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8e09f547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bc1323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bc13238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6b269d348355bf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6b269d348355bf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4f9babb902dcd7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4f9babb902dcd7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7f4bd66c5a2ad6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7f4bd66c5a2ad6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5cb746bd050826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5cb746bd050826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6b269d348355b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6b269d348355b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6b269d348355b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6b269d348355b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6b269d348355bf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6b269d348355bf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4f9babb902dcd71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4f9babb902dcd71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4f9babb902dcd71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4f9babb902dcd71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4f9babb902dcd71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4f9babb902dcd71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4f9babb902dcd71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4f9babb902dcd71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4f9babb902dcd71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h4f9babb902dcd71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4f9babb902dcd71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4f9babb902dcd71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science.nasa.gov/earth/earth-observatory/fagradalsfjall-continues-to-erupt-148510/" TargetMode="External"/><Relationship Id="rId4" Type="http://schemas.openxmlformats.org/officeDocument/2006/relationships/hyperlink" Target="https://pubs.usgs.gov/gip/msh//pyroclastic.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citypng.com/png-download/28741" TargetMode="External"/><Relationship Id="rId4" Type="http://schemas.openxmlformats.org/officeDocument/2006/relationships/hyperlink" Target="https://qaqooking.wiki/all/how-to/volcanic-landforms-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Geography CBA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Nathan O’Connor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030000" y="6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 of Iceland</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title="IMG_4271.HEIC"/>
          <p:cNvPicPr preferRelativeResize="0"/>
          <p:nvPr/>
        </p:nvPicPr>
        <p:blipFill rotWithShape="1">
          <a:blip r:embed="rId3">
            <a:alphaModFix/>
          </a:blip>
          <a:srcRect b="19478" l="1594" r="9383" t="0"/>
          <a:stretch/>
        </p:blipFill>
        <p:spPr>
          <a:xfrm rot="-5400000">
            <a:off x="2385938" y="-454339"/>
            <a:ext cx="4372126" cy="66300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Q&amp;A’s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Name of volcano: Fagradalsfjall</a:t>
            </a:r>
            <a:endParaRPr/>
          </a:p>
          <a:p>
            <a:pPr indent="0" lvl="0" marL="0" rtl="0" algn="l">
              <a:spcBef>
                <a:spcPts val="1200"/>
              </a:spcBef>
              <a:spcAft>
                <a:spcPts val="0"/>
              </a:spcAft>
              <a:buNone/>
            </a:pPr>
            <a:r>
              <a:rPr lang="en"/>
              <a:t>Date &amp; time: Friday 19th of March 2021, at 20:45</a:t>
            </a:r>
            <a:endParaRPr/>
          </a:p>
          <a:p>
            <a:pPr indent="0" lvl="0" marL="0" rtl="0" algn="l">
              <a:spcBef>
                <a:spcPts val="1200"/>
              </a:spcBef>
              <a:spcAft>
                <a:spcPts val="0"/>
              </a:spcAft>
              <a:buNone/>
            </a:pPr>
            <a:r>
              <a:rPr lang="en"/>
              <a:t>What happened: The volcano erupted</a:t>
            </a:r>
            <a:endParaRPr/>
          </a:p>
          <a:p>
            <a:pPr indent="0" lvl="0" marL="0" rtl="0" algn="l">
              <a:spcBef>
                <a:spcPts val="1200"/>
              </a:spcBef>
              <a:spcAft>
                <a:spcPts val="0"/>
              </a:spcAft>
              <a:buNone/>
            </a:pPr>
            <a:r>
              <a:rPr lang="en"/>
              <a:t>Who was affected: The townspeople of Grindavík were affected because they had to evacuate their homes.</a:t>
            </a:r>
            <a:endParaRPr/>
          </a:p>
          <a:p>
            <a:pPr indent="0" lvl="0" marL="0" rtl="0" algn="l">
              <a:spcBef>
                <a:spcPts val="1200"/>
              </a:spcBef>
              <a:spcAft>
                <a:spcPts val="0"/>
              </a:spcAft>
              <a:buNone/>
            </a:pPr>
            <a:r>
              <a:rPr lang="en"/>
              <a:t>How did they respond to the event: </a:t>
            </a:r>
            <a:r>
              <a:rPr lang="en"/>
              <a:t>Warnings</a:t>
            </a:r>
            <a:r>
              <a:rPr lang="en"/>
              <a:t> were issued regarding the gas and lava, nearby towns such as Gríndavik were evacuated.</a:t>
            </a:r>
            <a:endParaRPr/>
          </a:p>
          <a:p>
            <a:pPr indent="0" lvl="0" marL="0" rtl="0" algn="l">
              <a:spcBef>
                <a:spcPts val="1200"/>
              </a:spcBef>
              <a:spcAft>
                <a:spcPts val="1200"/>
              </a:spcAft>
              <a:buNone/>
            </a:pPr>
            <a:r>
              <a:rPr lang="en"/>
              <a:t>Where did this event occur: Reykjanes </a:t>
            </a:r>
            <a:r>
              <a:rPr lang="en"/>
              <a:t>peninsula, Iceland</a:t>
            </a:r>
            <a:endParaRPr/>
          </a:p>
        </p:txBody>
      </p:sp>
      <p:pic>
        <p:nvPicPr>
          <p:cNvPr id="69" name="Google Shape;69;p15" title="[CITYPNG.COM]3D White Man Near Red Question Mark HD PNG - 1500x1500.png"/>
          <p:cNvPicPr preferRelativeResize="0"/>
          <p:nvPr/>
        </p:nvPicPr>
        <p:blipFill>
          <a:blip r:embed="rId3">
            <a:alphaModFix/>
          </a:blip>
          <a:stretch>
            <a:fillRect/>
          </a:stretch>
        </p:blipFill>
        <p:spPr>
          <a:xfrm>
            <a:off x="6717500" y="0"/>
            <a:ext cx="2357824" cy="23578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91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volcanoes form</a:t>
            </a:r>
            <a:endParaRPr/>
          </a:p>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3693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3"/>
              <a:buNone/>
            </a:pPr>
            <a:r>
              <a:rPr lang="en" sz="1595"/>
              <a:t>Volcanoes form at destructive plate boundaries.</a:t>
            </a:r>
            <a:endParaRPr sz="1595"/>
          </a:p>
          <a:p>
            <a:pPr indent="0" lvl="0" marL="0" rtl="0" algn="l">
              <a:spcBef>
                <a:spcPts val="1200"/>
              </a:spcBef>
              <a:spcAft>
                <a:spcPts val="0"/>
              </a:spcAft>
              <a:buSzPts val="853"/>
              <a:buNone/>
            </a:pPr>
            <a:r>
              <a:rPr lang="en" sz="1595"/>
              <a:t>The two plates collide and the heavier oceanic plate sinks below the lighter continental plate and melts in the mantle.</a:t>
            </a:r>
            <a:endParaRPr sz="1595"/>
          </a:p>
          <a:p>
            <a:pPr indent="0" lvl="0" marL="0" rtl="0" algn="l">
              <a:spcBef>
                <a:spcPts val="1200"/>
              </a:spcBef>
              <a:spcAft>
                <a:spcPts val="0"/>
              </a:spcAft>
              <a:buSzPts val="853"/>
              <a:buNone/>
            </a:pPr>
            <a:r>
              <a:rPr lang="en" sz="1595"/>
              <a:t>As it melts, a blob of magma breaks off and rises up through cracks (faults) in the crust.</a:t>
            </a:r>
            <a:endParaRPr sz="1595"/>
          </a:p>
          <a:p>
            <a:pPr indent="0" lvl="0" marL="0" rtl="0" algn="l">
              <a:spcBef>
                <a:spcPts val="1200"/>
              </a:spcBef>
              <a:spcAft>
                <a:spcPts val="0"/>
              </a:spcAft>
              <a:buSzPts val="853"/>
              <a:buNone/>
            </a:pPr>
            <a:r>
              <a:rPr lang="en" sz="1595"/>
              <a:t>Over time, this magma can erupt and begin to form a volcanic mountain.</a:t>
            </a:r>
            <a:endParaRPr sz="1595"/>
          </a:p>
          <a:p>
            <a:pPr indent="0" lvl="0" marL="0" rtl="0" algn="l">
              <a:spcBef>
                <a:spcPts val="1200"/>
              </a:spcBef>
              <a:spcAft>
                <a:spcPts val="1200"/>
              </a:spcAft>
              <a:buSzPts val="853"/>
              <a:buNone/>
            </a:pPr>
            <a:r>
              <a:t/>
            </a:r>
            <a:endParaRPr sz="1395"/>
          </a:p>
        </p:txBody>
      </p:sp>
      <p:pic>
        <p:nvPicPr>
          <p:cNvPr id="76" name="Google Shape;76;p16"/>
          <p:cNvPicPr preferRelativeResize="0"/>
          <p:nvPr/>
        </p:nvPicPr>
        <p:blipFill>
          <a:blip r:embed="rId3">
            <a:alphaModFix/>
          </a:blip>
          <a:stretch>
            <a:fillRect/>
          </a:stretch>
        </p:blipFill>
        <p:spPr>
          <a:xfrm>
            <a:off x="3973950" y="0"/>
            <a:ext cx="5170050" cy="5143500"/>
          </a:xfrm>
          <a:prstGeom prst="rect">
            <a:avLst/>
          </a:prstGeom>
          <a:noFill/>
          <a:ln>
            <a:noFill/>
          </a:ln>
        </p:spPr>
      </p:pic>
      <p:sp>
        <p:nvSpPr>
          <p:cNvPr id="77" name="Google Shape;77;p16"/>
          <p:cNvSpPr/>
          <p:nvPr/>
        </p:nvSpPr>
        <p:spPr>
          <a:xfrm>
            <a:off x="5711875" y="4910850"/>
            <a:ext cx="1592700" cy="18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Processes of volcanic activities</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 magma is stored underground in a magma chamber. The gases build up in the magma chamber.</a:t>
            </a:r>
            <a:endParaRPr/>
          </a:p>
          <a:p>
            <a:pPr indent="0" lvl="0" marL="0" rtl="0" algn="l">
              <a:spcBef>
                <a:spcPts val="1200"/>
              </a:spcBef>
              <a:spcAft>
                <a:spcPts val="0"/>
              </a:spcAft>
              <a:buClr>
                <a:schemeClr val="dk1"/>
              </a:buClr>
              <a:buSzPts val="1100"/>
              <a:buFont typeface="Arial"/>
              <a:buNone/>
            </a:pPr>
            <a:r>
              <a:rPr lang="en"/>
              <a:t>The pressure builds up and magma erupts out of the vent through an opening called a crater.</a:t>
            </a:r>
            <a:endParaRPr/>
          </a:p>
          <a:p>
            <a:pPr indent="0" lvl="0" marL="0" rtl="0" algn="l">
              <a:spcBef>
                <a:spcPts val="1200"/>
              </a:spcBef>
              <a:spcAft>
                <a:spcPts val="0"/>
              </a:spcAft>
              <a:buClr>
                <a:schemeClr val="dk1"/>
              </a:buClr>
              <a:buSzPts val="1100"/>
              <a:buFont typeface="Arial"/>
              <a:buNone/>
            </a:pPr>
            <a:r>
              <a:rPr lang="en"/>
              <a:t>When magma reaches the earth’s surface, it is known as lava.</a:t>
            </a:r>
            <a:endParaRPr/>
          </a:p>
          <a:p>
            <a:pPr indent="0" lvl="0" marL="0" rtl="0" algn="l">
              <a:spcBef>
                <a:spcPts val="1200"/>
              </a:spcBef>
              <a:spcAft>
                <a:spcPts val="0"/>
              </a:spcAft>
              <a:buClr>
                <a:schemeClr val="dk1"/>
              </a:buClr>
              <a:buSzPts val="1100"/>
              <a:buFont typeface="Arial"/>
              <a:buNone/>
            </a:pPr>
            <a:r>
              <a:rPr lang="en"/>
              <a:t>Over time, layers of ash and lava harden and build up around the vent to form a cone shaped mountain.</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Volcanic life cycle</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Active:</a:t>
            </a:r>
            <a:endParaRPr/>
          </a:p>
          <a:p>
            <a:pPr indent="0" lvl="0" marL="457200" rtl="0" algn="l">
              <a:spcBef>
                <a:spcPts val="1200"/>
              </a:spcBef>
              <a:spcAft>
                <a:spcPts val="0"/>
              </a:spcAft>
              <a:buNone/>
            </a:pPr>
            <a:r>
              <a:rPr lang="en"/>
              <a:t>An active volcano erupts regularly, e.g. Mount Etna, Italy</a:t>
            </a:r>
            <a:endParaRPr/>
          </a:p>
          <a:p>
            <a:pPr indent="-342900" lvl="0" marL="457200" rtl="0" algn="l">
              <a:spcBef>
                <a:spcPts val="1200"/>
              </a:spcBef>
              <a:spcAft>
                <a:spcPts val="0"/>
              </a:spcAft>
              <a:buSzPts val="1800"/>
              <a:buAutoNum type="arabicPeriod"/>
            </a:pPr>
            <a:r>
              <a:rPr lang="en"/>
              <a:t>Dormant:</a:t>
            </a:r>
            <a:endParaRPr/>
          </a:p>
          <a:p>
            <a:pPr indent="0" lvl="0" marL="457200" rtl="0" algn="l">
              <a:spcBef>
                <a:spcPts val="1200"/>
              </a:spcBef>
              <a:spcAft>
                <a:spcPts val="0"/>
              </a:spcAft>
              <a:buNone/>
            </a:pPr>
            <a:r>
              <a:rPr lang="en"/>
              <a:t>A dormant volcano has not erupted for some time, e.g. Mount St. Helens, USA</a:t>
            </a:r>
            <a:endParaRPr/>
          </a:p>
          <a:p>
            <a:pPr indent="-342900" lvl="0" marL="457200" rtl="0" algn="l">
              <a:spcBef>
                <a:spcPts val="1200"/>
              </a:spcBef>
              <a:spcAft>
                <a:spcPts val="0"/>
              </a:spcAft>
              <a:buSzPts val="1800"/>
              <a:buAutoNum type="arabicPeriod"/>
            </a:pPr>
            <a:r>
              <a:rPr lang="en"/>
              <a:t>Extinct:</a:t>
            </a:r>
            <a:endParaRPr/>
          </a:p>
          <a:p>
            <a:pPr indent="0" lvl="0" marL="457200" rtl="0" algn="l">
              <a:spcBef>
                <a:spcPts val="1200"/>
              </a:spcBef>
              <a:spcAft>
                <a:spcPts val="1200"/>
              </a:spcAft>
              <a:buNone/>
            </a:pPr>
            <a:r>
              <a:rPr lang="en"/>
              <a:t>Has not erupted in historic times, e.g. Slemish, Co. Antrim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volcanic areas</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Volcanoes can be both both beneficial and detrimental to a country.</a:t>
            </a:r>
            <a:endParaRPr/>
          </a:p>
          <a:p>
            <a:pPr indent="0" lvl="0" marL="0" rtl="0" algn="l">
              <a:spcBef>
                <a:spcPts val="1200"/>
              </a:spcBef>
              <a:spcAft>
                <a:spcPts val="0"/>
              </a:spcAft>
              <a:buNone/>
            </a:pPr>
            <a:r>
              <a:rPr lang="en"/>
              <a:t>Benefits:</a:t>
            </a:r>
            <a:endParaRPr/>
          </a:p>
          <a:p>
            <a:pPr indent="-342900" lvl="0" marL="457200" rtl="0" algn="l">
              <a:spcBef>
                <a:spcPts val="1200"/>
              </a:spcBef>
              <a:spcAft>
                <a:spcPts val="0"/>
              </a:spcAft>
              <a:buSzPts val="1800"/>
              <a:buChar char="●"/>
            </a:pPr>
            <a:r>
              <a:rPr lang="en"/>
              <a:t>Geothermal energy can be harnessed from volcanoes.</a:t>
            </a:r>
            <a:endParaRPr/>
          </a:p>
          <a:p>
            <a:pPr indent="-342900" lvl="0" marL="457200" rtl="0" algn="l">
              <a:spcBef>
                <a:spcPts val="0"/>
              </a:spcBef>
              <a:spcAft>
                <a:spcPts val="0"/>
              </a:spcAft>
              <a:buSzPts val="1800"/>
              <a:buChar char="●"/>
            </a:pPr>
            <a:r>
              <a:rPr lang="en"/>
              <a:t>Soil quality in volcanic areas can be excellent</a:t>
            </a:r>
            <a:endParaRPr/>
          </a:p>
          <a:p>
            <a:pPr indent="-342900" lvl="0" marL="457200" rtl="0" algn="l">
              <a:spcBef>
                <a:spcPts val="0"/>
              </a:spcBef>
              <a:spcAft>
                <a:spcPts val="0"/>
              </a:spcAft>
              <a:buSzPts val="1800"/>
              <a:buChar char="●"/>
            </a:pPr>
            <a:r>
              <a:rPr lang="en"/>
              <a:t>Land formation - Many islands &amp; archipelagos have been formed by volcanic eruptions</a:t>
            </a:r>
            <a:endParaRPr/>
          </a:p>
          <a:p>
            <a:pPr indent="-342900" lvl="0" marL="457200" rtl="0" algn="l">
              <a:spcBef>
                <a:spcPts val="0"/>
              </a:spcBef>
              <a:spcAft>
                <a:spcPts val="0"/>
              </a:spcAft>
              <a:buSzPts val="1800"/>
              <a:buChar char="●"/>
            </a:pPr>
            <a:r>
              <a:rPr lang="en"/>
              <a:t>Tourist attractions - Volcanoes can be mesmerizing when viewed from a distance</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Drawbacks of volcanoes</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Volcanic eruptions can lead to volcanic mudflows called lahars</a:t>
            </a:r>
            <a:endParaRPr/>
          </a:p>
          <a:p>
            <a:pPr indent="-342900" lvl="0" marL="457200" rtl="0" algn="l">
              <a:spcBef>
                <a:spcPts val="0"/>
              </a:spcBef>
              <a:spcAft>
                <a:spcPts val="0"/>
              </a:spcAft>
              <a:buSzPts val="1800"/>
              <a:buChar char="●"/>
            </a:pPr>
            <a:r>
              <a:rPr lang="en"/>
              <a:t>Aeroplanes may need to be grounded due to ash clouds from volcanoes</a:t>
            </a:r>
            <a:endParaRPr/>
          </a:p>
          <a:p>
            <a:pPr indent="-342900" lvl="0" marL="457200" rtl="0" algn="l">
              <a:spcBef>
                <a:spcPts val="0"/>
              </a:spcBef>
              <a:spcAft>
                <a:spcPts val="0"/>
              </a:spcAft>
              <a:buSzPts val="1800"/>
              <a:buChar char="●"/>
            </a:pPr>
            <a:r>
              <a:rPr lang="en"/>
              <a:t>Volcanic ash can render areas temporarily uninhabitable</a:t>
            </a:r>
            <a:endParaRPr/>
          </a:p>
          <a:p>
            <a:pPr indent="-342900" lvl="0" marL="457200" rtl="0" algn="l">
              <a:spcBef>
                <a:spcPts val="0"/>
              </a:spcBef>
              <a:spcAft>
                <a:spcPts val="0"/>
              </a:spcAft>
              <a:buSzPts val="1800"/>
              <a:buChar char="●"/>
            </a:pPr>
            <a:r>
              <a:rPr lang="en"/>
              <a:t>Lava can move VERY fast (up to 100km/h) and destroy buildings</a:t>
            </a:r>
            <a:endParaRPr/>
          </a:p>
          <a:p>
            <a:pPr indent="-342900" lvl="0" marL="457200" rtl="0" algn="l">
              <a:spcBef>
                <a:spcPts val="0"/>
              </a:spcBef>
              <a:spcAft>
                <a:spcPts val="0"/>
              </a:spcAft>
              <a:buSzPts val="1800"/>
              <a:buChar char="●"/>
            </a:pPr>
            <a:r>
              <a:rPr lang="en"/>
              <a:t>Volcanic eruptions can kill people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Local impacts of this volcanic event</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blue lagoon geothermal spa in the Reykjanes peninsula was shut down and evacuated due to a car park full of lava</a:t>
            </a:r>
            <a:endParaRPr/>
          </a:p>
          <a:p>
            <a:pPr indent="-342900" lvl="0" marL="457200" rtl="0" algn="l">
              <a:spcBef>
                <a:spcPts val="0"/>
              </a:spcBef>
              <a:spcAft>
                <a:spcPts val="0"/>
              </a:spcAft>
              <a:buSzPts val="1800"/>
              <a:buChar char="●"/>
            </a:pPr>
            <a:r>
              <a:rPr lang="en"/>
              <a:t>The nearby town of Grindavík was evacuated</a:t>
            </a:r>
            <a:endParaRPr/>
          </a:p>
          <a:p>
            <a:pPr indent="-342900" lvl="0" marL="457200" rtl="0" algn="l">
              <a:spcBef>
                <a:spcPts val="0"/>
              </a:spcBef>
              <a:spcAft>
                <a:spcPts val="0"/>
              </a:spcAft>
              <a:buSzPts val="1800"/>
              <a:buChar char="●"/>
            </a:pPr>
            <a:r>
              <a:rPr lang="en"/>
              <a:t>The risk of lava flowing across roads increased</a:t>
            </a:r>
            <a:endParaRPr/>
          </a:p>
          <a:p>
            <a:pPr indent="-342900" lvl="0" marL="457200" rtl="0" algn="l">
              <a:spcBef>
                <a:spcPts val="0"/>
              </a:spcBef>
              <a:spcAft>
                <a:spcPts val="0"/>
              </a:spcAft>
              <a:buSzPts val="1800"/>
              <a:buChar char="●"/>
            </a:pPr>
            <a:r>
              <a:rPr lang="en"/>
              <a:t>Lava flows covered an estimated </a:t>
            </a:r>
            <a:r>
              <a:rPr lang="en"/>
              <a:t>3 km</a:t>
            </a:r>
            <a:r>
              <a:rPr lang="en"/>
              <a:t> of land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 impacts of this volcanic event</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eruption received coverage by several news agencies worldwide</a:t>
            </a:r>
            <a:endParaRPr/>
          </a:p>
          <a:p>
            <a:pPr indent="-342900" lvl="0" marL="457200" rtl="0" algn="l">
              <a:spcBef>
                <a:spcPts val="0"/>
              </a:spcBef>
              <a:spcAft>
                <a:spcPts val="0"/>
              </a:spcAft>
              <a:buSzPts val="1800"/>
              <a:buChar char="●"/>
            </a:pPr>
            <a:r>
              <a:rPr lang="en"/>
              <a:t>Between 430 to 1,510 kilotonnes of sulfur dioxide were released into the atmosphere by the eruption. While this is a small amount compared to other historic eruptions, Sulfur dioxide can affect both the climate and human health.</a:t>
            </a:r>
            <a:endParaRPr/>
          </a:p>
          <a:p>
            <a:pPr indent="-342900" lvl="0" marL="457200" rtl="0" algn="l">
              <a:spcBef>
                <a:spcPts val="0"/>
              </a:spcBef>
              <a:spcAft>
                <a:spcPts val="0"/>
              </a:spcAft>
              <a:buSzPts val="1800"/>
              <a:buChar char="●"/>
            </a:pPr>
            <a:r>
              <a:rPr lang="en"/>
              <a:t>The eruption was valuable to scientists studying lava-flow behaviour due to the moderately safe nature of the eruption site.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Sustainability of this event on tourism in the local area</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While the eruption was ongoing, over 356,000 tourists visited the site</a:t>
            </a:r>
            <a:endParaRPr/>
          </a:p>
          <a:p>
            <a:pPr indent="-342900" lvl="0" marL="457200" rtl="0" algn="l">
              <a:spcBef>
                <a:spcPts val="0"/>
              </a:spcBef>
              <a:spcAft>
                <a:spcPts val="0"/>
              </a:spcAft>
              <a:buSzPts val="1800"/>
              <a:buChar char="●"/>
            </a:pPr>
            <a:r>
              <a:rPr lang="en"/>
              <a:t>Two trails were set up by local authorities for viewing of the volcanic activity, out of the two trails, trail A was favoured by tourists because it offered more scenic views of the eruption. Managing the trail became difficult since it had to be modified several times to accommodate the constant foot traffic.</a:t>
            </a:r>
            <a:endParaRPr/>
          </a:p>
          <a:p>
            <a:pPr indent="-342900" lvl="0" marL="457200" rtl="0" algn="l">
              <a:spcBef>
                <a:spcPts val="0"/>
              </a:spcBef>
              <a:spcAft>
                <a:spcPts val="0"/>
              </a:spcAft>
              <a:buSzPts val="1800"/>
              <a:buChar char="●"/>
            </a:pPr>
            <a:r>
              <a:rPr lang="en"/>
              <a:t>The volcanic tourism / geotourism creates thousands of jobs and generates billions of euros of revenue.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Sustainability on local agriculture &amp; infrastructure</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While this specific eruption had little effect on agriculture due to the fact that it happened in a mostly uninhabited area, volcanic soil is good for farming due to its high mineral content.</a:t>
            </a:r>
            <a:endParaRPr/>
          </a:p>
          <a:p>
            <a:pPr indent="-342900" lvl="0" marL="457200" rtl="0" algn="l">
              <a:spcBef>
                <a:spcPts val="0"/>
              </a:spcBef>
              <a:spcAft>
                <a:spcPts val="0"/>
              </a:spcAft>
              <a:buSzPts val="1800"/>
              <a:buChar char="●"/>
            </a:pPr>
            <a:r>
              <a:rPr lang="en"/>
              <a:t>While the aforementioned effects sound good there can still be some undesirable effects. E.g. volcanic ash causing respiratory problems in livestock.</a:t>
            </a:r>
            <a:endParaRPr/>
          </a:p>
          <a:p>
            <a:pPr indent="-342900" lvl="0" marL="457200" rtl="0" algn="l">
              <a:spcBef>
                <a:spcPts val="0"/>
              </a:spcBef>
              <a:spcAft>
                <a:spcPts val="0"/>
              </a:spcAft>
              <a:buSzPts val="1800"/>
              <a:buChar char="●"/>
            </a:pPr>
            <a:r>
              <a:rPr lang="en"/>
              <a:t>While this event did lead to evacuations, etc; Iceland’s volcanic land is great for powering geothermal power plants, Geothermal energy is also a sustainable form of energy.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eruption was a great example of one that was handled well by citizens and the government, it was treated as a research/tourism opportunity rather than just something to be afraid of.</a:t>
            </a:r>
            <a:endParaRPr/>
          </a:p>
          <a:p>
            <a:pPr indent="0" lvl="0" marL="0" rtl="0" algn="l">
              <a:spcBef>
                <a:spcPts val="1200"/>
              </a:spcBef>
              <a:spcAft>
                <a:spcPts val="1200"/>
              </a:spcAft>
              <a:buNone/>
            </a:pPr>
            <a:r>
              <a:rPr lang="en"/>
              <a:t>I think that this eruption, and its response set a good example to other countries to deal with volcanic eruptions systematically, without disrupting much </a:t>
            </a:r>
            <a:r>
              <a:rPr lang="en"/>
              <a:t>activity</a:t>
            </a:r>
            <a:r>
              <a:rPr lang="en"/>
              <a:t> within the country.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37" name="Google Shape;13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n" sz="3750"/>
              <a:t>“Geography in the news” booklet (2026) DGS Geography department</a:t>
            </a:r>
            <a:endParaRPr sz="3750"/>
          </a:p>
          <a:p>
            <a:pPr indent="0" lvl="0" marL="0" rtl="0" algn="l">
              <a:spcBef>
                <a:spcPts val="1200"/>
              </a:spcBef>
              <a:spcAft>
                <a:spcPts val="0"/>
              </a:spcAft>
              <a:buNone/>
            </a:pPr>
            <a:r>
              <a:rPr lang="en" sz="3750"/>
              <a:t>Fitzharris, Tara &amp; Lydon, Peter. (</a:t>
            </a:r>
            <a:r>
              <a:rPr lang="en" sz="3750"/>
              <a:t>2018</a:t>
            </a:r>
            <a:r>
              <a:rPr lang="en" sz="3750"/>
              <a:t>) </a:t>
            </a:r>
            <a:r>
              <a:rPr i="1" lang="en" sz="3750"/>
              <a:t>Real World Geography.</a:t>
            </a:r>
            <a:r>
              <a:rPr lang="en" sz="3750"/>
              <a:t> Folens</a:t>
            </a:r>
            <a:endParaRPr sz="3750"/>
          </a:p>
          <a:p>
            <a:pPr indent="0" lvl="0" marL="0" rtl="0" algn="l">
              <a:spcBef>
                <a:spcPts val="1200"/>
              </a:spcBef>
              <a:spcAft>
                <a:spcPts val="0"/>
              </a:spcAft>
              <a:buNone/>
            </a:pPr>
            <a:r>
              <a:rPr lang="en" sz="3750"/>
              <a:t>Vally, H &amp; Misso, NL. (</a:t>
            </a:r>
            <a:r>
              <a:rPr lang="en" sz="3750"/>
              <a:t>2012</a:t>
            </a:r>
            <a:r>
              <a:rPr lang="en" sz="3750"/>
              <a:t>) </a:t>
            </a:r>
            <a:r>
              <a:rPr i="1" lang="en" sz="3750"/>
              <a:t>Adverse reactions to the sulphite additives.</a:t>
            </a:r>
            <a:r>
              <a:rPr lang="en" sz="3750"/>
              <a:t> Gastroenterol Hepatol Bed Bench</a:t>
            </a:r>
            <a:endParaRPr sz="3750"/>
          </a:p>
          <a:p>
            <a:pPr indent="0" lvl="0" marL="0" rtl="0" algn="l">
              <a:spcBef>
                <a:spcPts val="1200"/>
              </a:spcBef>
              <a:spcAft>
                <a:spcPts val="0"/>
              </a:spcAft>
              <a:buNone/>
            </a:pPr>
            <a:r>
              <a:rPr lang="en" sz="3750"/>
              <a:t>Barsotti, S, et al. (</a:t>
            </a:r>
            <a:r>
              <a:rPr i="1" lang="en" sz="3750"/>
              <a:t>2021</a:t>
            </a:r>
            <a:r>
              <a:rPr lang="en" sz="3750"/>
              <a:t>) </a:t>
            </a:r>
            <a:r>
              <a:rPr i="1" lang="en" sz="3750"/>
              <a:t>The eruption in Fagradalsfjall (2021, Iceland): how the operational monitoring and the volcanic hazard assessment contributed to its safe access.</a:t>
            </a:r>
            <a:r>
              <a:rPr lang="en" sz="3750"/>
              <a:t> Nat Hazards 116, 3063–3092.</a:t>
            </a:r>
            <a:endParaRPr sz="375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Pagneux, E. (</a:t>
            </a:r>
            <a:r>
              <a:rPr lang="en"/>
              <a:t>2026</a:t>
            </a:r>
            <a:r>
              <a:rPr lang="en"/>
              <a:t>) </a:t>
            </a:r>
            <a:r>
              <a:rPr i="1" lang="en"/>
              <a:t>Access to the Fagradalsfjall 2021–2023 volcanic eruptions: a case-study of pedestrian routes mapping with least-cost-path analyses.</a:t>
            </a:r>
            <a:r>
              <a:rPr lang="en"/>
              <a:t> Nat Hazards 122, 93</a:t>
            </a:r>
            <a:endParaRPr/>
          </a:p>
          <a:p>
            <a:pPr indent="0" lvl="0" marL="0" rtl="0" algn="l">
              <a:spcBef>
                <a:spcPts val="1200"/>
              </a:spcBef>
              <a:spcAft>
                <a:spcPts val="0"/>
              </a:spcAft>
              <a:buNone/>
            </a:pPr>
            <a:r>
              <a:rPr lang="en"/>
              <a:t>Pfeffer, M, et al. (</a:t>
            </a:r>
            <a:r>
              <a:rPr lang="en"/>
              <a:t>2024</a:t>
            </a:r>
            <a:r>
              <a:rPr lang="en"/>
              <a:t>) </a:t>
            </a:r>
            <a:r>
              <a:rPr i="1" lang="en"/>
              <a:t>SO2 emission rates and incorporation into the air pollution dispersion forecast during the 2021 eruption of Fagradalsfjall, Iceland. </a:t>
            </a:r>
            <a:r>
              <a:rPr lang="en"/>
              <a:t>Journal of Volcanology and Geothermal Research Volume 449</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Phillips, J. et al. (</a:t>
            </a:r>
            <a:r>
              <a:rPr lang="en"/>
              <a:t>2019</a:t>
            </a:r>
            <a:r>
              <a:rPr lang="en"/>
              <a:t>) </a:t>
            </a:r>
            <a:r>
              <a:rPr i="1" lang="en"/>
              <a:t>Dynamic and extensive risk arising from volcanic ash impacts on agriculture. </a:t>
            </a:r>
            <a:r>
              <a:rPr lang="en"/>
              <a:t>United Nations Office for Disaster Risk Reduction (UNDRR).</a:t>
            </a:r>
            <a:endParaRPr/>
          </a:p>
          <a:p>
            <a:pPr indent="0" lvl="0" marL="0" rtl="0" algn="l">
              <a:spcBef>
                <a:spcPts val="1200"/>
              </a:spcBef>
              <a:spcAft>
                <a:spcPts val="0"/>
              </a:spcAft>
              <a:buNone/>
            </a:pPr>
            <a:r>
              <a:rPr lang="en"/>
              <a:t>NASA Earth </a:t>
            </a:r>
            <a:r>
              <a:rPr lang="en"/>
              <a:t>observatory</a:t>
            </a:r>
            <a:r>
              <a:rPr lang="en"/>
              <a:t>. (2021) </a:t>
            </a:r>
            <a:r>
              <a:rPr i="1" lang="en"/>
              <a:t>Fagradalsfjall Continues to Erupt, </a:t>
            </a:r>
            <a:r>
              <a:rPr lang="en"/>
              <a:t>available: </a:t>
            </a:r>
            <a:r>
              <a:rPr lang="en" u="sng">
                <a:solidFill>
                  <a:schemeClr val="hlink"/>
                </a:solidFill>
                <a:hlinkClick r:id="rId3"/>
              </a:rPr>
              <a:t>https://science.nasa.gov/earth/earth-observatory/fagradalsfjall-continues-to-erupt-148510/</a:t>
            </a:r>
            <a:r>
              <a:rPr lang="en"/>
              <a:t> [accessed 8th October 2026]</a:t>
            </a:r>
            <a:endParaRPr/>
          </a:p>
          <a:p>
            <a:pPr indent="0" lvl="0" marL="0" rtl="0" algn="l">
              <a:spcBef>
                <a:spcPts val="1200"/>
              </a:spcBef>
              <a:spcAft>
                <a:spcPts val="0"/>
              </a:spcAft>
              <a:buNone/>
            </a:pPr>
            <a:r>
              <a:rPr lang="en"/>
              <a:t>Watson, J. (1997) </a:t>
            </a:r>
            <a:r>
              <a:rPr i="1" lang="en"/>
              <a:t>Pyroclastic Flows</a:t>
            </a:r>
            <a:r>
              <a:rPr lang="en"/>
              <a:t>, available: </a:t>
            </a:r>
            <a:r>
              <a:rPr lang="en" u="sng">
                <a:solidFill>
                  <a:schemeClr val="hlink"/>
                </a:solidFill>
                <a:hlinkClick r:id="rId4"/>
              </a:rPr>
              <a:t>https://pubs.usgs.gov/gip/msh//pyroclastic.html</a:t>
            </a:r>
            <a:r>
              <a:rPr lang="en"/>
              <a:t> [accessed 8th October 2026]</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CITYPNG (2026) </a:t>
            </a:r>
            <a:r>
              <a:rPr i="1" lang="en"/>
              <a:t>3D White Man Near Red Question Mark HD PNG</a:t>
            </a:r>
            <a:r>
              <a:rPr lang="en"/>
              <a:t> [rendered 3d model], available: </a:t>
            </a:r>
            <a:r>
              <a:rPr lang="en" u="sng">
                <a:solidFill>
                  <a:schemeClr val="hlink"/>
                </a:solidFill>
                <a:hlinkClick r:id="rId3"/>
              </a:rPr>
              <a:t>https://www.citypng.com/png-download/28741</a:t>
            </a:r>
            <a:r>
              <a:rPr lang="en"/>
              <a:t> [accessed 8th October 2026]</a:t>
            </a:r>
            <a:endParaRPr/>
          </a:p>
          <a:p>
            <a:pPr indent="0" lvl="0" marL="0" rtl="0" algn="l">
              <a:spcBef>
                <a:spcPts val="1200"/>
              </a:spcBef>
              <a:spcAft>
                <a:spcPts val="1200"/>
              </a:spcAft>
              <a:buNone/>
            </a:pPr>
            <a:r>
              <a:rPr lang="en"/>
              <a:t>Qa Qooking (2025) </a:t>
            </a:r>
            <a:r>
              <a:rPr i="1" lang="en"/>
              <a:t>Volcanic Landforms Diagram </a:t>
            </a:r>
            <a:r>
              <a:rPr lang="en"/>
              <a:t>[diagram], available: </a:t>
            </a:r>
            <a:r>
              <a:rPr lang="en" u="sng">
                <a:solidFill>
                  <a:schemeClr val="hlink"/>
                </a:solidFill>
                <a:hlinkClick r:id="rId4"/>
              </a:rPr>
              <a:t>https://qaqooking.wiki/all/how-to/volcanic-landforms-diagram</a:t>
            </a:r>
            <a:r>
              <a:rPr lang="en"/>
              <a:t> [accessed 8th October 2026]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